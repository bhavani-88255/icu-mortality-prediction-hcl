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6" r:id="rId4"/>
    <p:sldId id="273" r:id="rId5"/>
    <p:sldId id="264" r:id="rId6"/>
    <p:sldId id="267" r:id="rId7"/>
    <p:sldId id="265" r:id="rId8"/>
    <p:sldId id="274" r:id="rId9"/>
    <p:sldId id="270" r:id="rId10"/>
    <p:sldId id="269" r:id="rId11"/>
    <p:sldId id="275" r:id="rId12"/>
    <p:sldId id="272" r:id="rId13"/>
  </p:sldIdLst>
  <p:sldSz cx="9753600" cy="7315200"/>
  <p:notesSz cx="6858000" cy="9144000"/>
  <p:embeddedFontLst>
    <p:embeddedFont>
      <p:font typeface="Book Antiqua" panose="02040602050305030304" pitchFamily="18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7A4325-05C4-4C40-92CF-E2A30E0A603D}" v="13" dt="2026-04-21T17:53:50.4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39" autoAdjust="0"/>
    <p:restoredTop sz="94622" autoAdjust="0"/>
  </p:normalViewPr>
  <p:slideViewPr>
    <p:cSldViewPr>
      <p:cViewPr varScale="1">
        <p:scale>
          <a:sx n="73" d="100"/>
          <a:sy n="73" d="100"/>
        </p:scale>
        <p:origin x="147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rani kanagaraj" userId="406013afdf31a054" providerId="LiveId" clId="{10EA665A-DBE3-42D5-AF00-609801538355}"/>
    <pc:docChg chg="undo custSel addSld delSld modSld sldOrd">
      <pc:chgData name="Bharani kanagaraj" userId="406013afdf31a054" providerId="LiveId" clId="{10EA665A-DBE3-42D5-AF00-609801538355}" dt="2026-04-21T17:54:55.391" v="1223" actId="2696"/>
      <pc:docMkLst>
        <pc:docMk/>
      </pc:docMkLst>
      <pc:sldChg chg="modSp mod">
        <pc:chgData name="Bharani kanagaraj" userId="406013afdf31a054" providerId="LiveId" clId="{10EA665A-DBE3-42D5-AF00-609801538355}" dt="2026-04-21T17:10:12.428" v="1120" actId="12"/>
        <pc:sldMkLst>
          <pc:docMk/>
          <pc:sldMk cId="0" sldId="256"/>
        </pc:sldMkLst>
        <pc:spChg chg="mod">
          <ac:chgData name="Bharani kanagaraj" userId="406013afdf31a054" providerId="LiveId" clId="{10EA665A-DBE3-42D5-AF00-609801538355}" dt="2026-04-21T17:10:12.428" v="1120" actId="12"/>
          <ac:spMkLst>
            <pc:docMk/>
            <pc:sldMk cId="0" sldId="256"/>
            <ac:spMk id="7" creationId="{00000000-0000-0000-0000-000000000000}"/>
          </ac:spMkLst>
        </pc:spChg>
      </pc:sldChg>
      <pc:sldChg chg="addSp modSp mod">
        <pc:chgData name="Bharani kanagaraj" userId="406013afdf31a054" providerId="LiveId" clId="{10EA665A-DBE3-42D5-AF00-609801538355}" dt="2026-04-21T17:39:20.882" v="1131" actId="1076"/>
        <pc:sldMkLst>
          <pc:docMk/>
          <pc:sldMk cId="507811446" sldId="265"/>
        </pc:sldMkLst>
        <pc:spChg chg="mod">
          <ac:chgData name="Bharani kanagaraj" userId="406013afdf31a054" providerId="LiveId" clId="{10EA665A-DBE3-42D5-AF00-609801538355}" dt="2026-04-21T17:39:09.195" v="1129" actId="1076"/>
          <ac:spMkLst>
            <pc:docMk/>
            <pc:sldMk cId="507811446" sldId="265"/>
            <ac:spMk id="3" creationId="{BDE7FB28-238F-78B8-5E78-27F119F7FBA0}"/>
          </ac:spMkLst>
        </pc:spChg>
        <pc:picChg chg="add mod modCrop">
          <ac:chgData name="Bharani kanagaraj" userId="406013afdf31a054" providerId="LiveId" clId="{10EA665A-DBE3-42D5-AF00-609801538355}" dt="2026-04-21T17:39:20.882" v="1131" actId="1076"/>
          <ac:picMkLst>
            <pc:docMk/>
            <pc:sldMk cId="507811446" sldId="265"/>
            <ac:picMk id="6" creationId="{21C84C5A-90F9-D646-54E5-A38805607E83}"/>
          </ac:picMkLst>
        </pc:picChg>
      </pc:sldChg>
      <pc:sldChg chg="modSp mod">
        <pc:chgData name="Bharani kanagaraj" userId="406013afdf31a054" providerId="LiveId" clId="{10EA665A-DBE3-42D5-AF00-609801538355}" dt="2026-04-21T15:36:01.542" v="1119" actId="1076"/>
        <pc:sldMkLst>
          <pc:docMk/>
          <pc:sldMk cId="2270827041" sldId="266"/>
        </pc:sldMkLst>
        <pc:graphicFrameChg chg="mod modGraphic">
          <ac:chgData name="Bharani kanagaraj" userId="406013afdf31a054" providerId="LiveId" clId="{10EA665A-DBE3-42D5-AF00-609801538355}" dt="2026-04-21T15:36:01.542" v="1119" actId="1076"/>
          <ac:graphicFrameMkLst>
            <pc:docMk/>
            <pc:sldMk cId="2270827041" sldId="266"/>
            <ac:graphicFrameMk id="6" creationId="{183F33CF-0168-21C6-93A3-BD815DA181AC}"/>
          </ac:graphicFrameMkLst>
        </pc:graphicFrameChg>
      </pc:sldChg>
      <pc:sldChg chg="addSp modSp mod">
        <pc:chgData name="Bharani kanagaraj" userId="406013afdf31a054" providerId="LiveId" clId="{10EA665A-DBE3-42D5-AF00-609801538355}" dt="2026-04-21T17:40:34.451" v="1144" actId="14100"/>
        <pc:sldMkLst>
          <pc:docMk/>
          <pc:sldMk cId="971988376" sldId="269"/>
        </pc:sldMkLst>
        <pc:picChg chg="add mod">
          <ac:chgData name="Bharani kanagaraj" userId="406013afdf31a054" providerId="LiveId" clId="{10EA665A-DBE3-42D5-AF00-609801538355}" dt="2026-04-21T17:40:34.451" v="1144" actId="14100"/>
          <ac:picMkLst>
            <pc:docMk/>
            <pc:sldMk cId="971988376" sldId="269"/>
            <ac:picMk id="6" creationId="{264FBDEA-1DBD-3FBF-D3D8-62557C6DAE3F}"/>
          </ac:picMkLst>
        </pc:picChg>
      </pc:sldChg>
      <pc:sldChg chg="modSp del mod">
        <pc:chgData name="Bharani kanagaraj" userId="406013afdf31a054" providerId="LiveId" clId="{10EA665A-DBE3-42D5-AF00-609801538355}" dt="2026-04-21T17:54:55.391" v="1223" actId="2696"/>
        <pc:sldMkLst>
          <pc:docMk/>
          <pc:sldMk cId="46026875" sldId="271"/>
        </pc:sldMkLst>
        <pc:spChg chg="mod">
          <ac:chgData name="Bharani kanagaraj" userId="406013afdf31a054" providerId="LiveId" clId="{10EA665A-DBE3-42D5-AF00-609801538355}" dt="2026-04-21T17:46:34.114" v="1149" actId="12"/>
          <ac:spMkLst>
            <pc:docMk/>
            <pc:sldMk cId="46026875" sldId="271"/>
            <ac:spMk id="2" creationId="{73C73F6E-F4BE-F60F-1C3B-EEFA8E73065F}"/>
          </ac:spMkLst>
        </pc:spChg>
        <pc:spChg chg="mod">
          <ac:chgData name="Bharani kanagaraj" userId="406013afdf31a054" providerId="LiveId" clId="{10EA665A-DBE3-42D5-AF00-609801538355}" dt="2026-04-21T17:46:33.608" v="1148" actId="1076"/>
          <ac:spMkLst>
            <pc:docMk/>
            <pc:sldMk cId="46026875" sldId="271"/>
            <ac:spMk id="5" creationId="{92E5696F-EBA6-5C23-1913-B9DD26881B0C}"/>
          </ac:spMkLst>
        </pc:spChg>
      </pc:sldChg>
      <pc:sldChg chg="modSp add mod ord">
        <pc:chgData name="Bharani kanagaraj" userId="406013afdf31a054" providerId="LiveId" clId="{10EA665A-DBE3-42D5-AF00-609801538355}" dt="2026-04-21T17:54:18.506" v="1222" actId="1076"/>
        <pc:sldMkLst>
          <pc:docMk/>
          <pc:sldMk cId="1398665787" sldId="275"/>
        </pc:sldMkLst>
        <pc:spChg chg="mod">
          <ac:chgData name="Bharani kanagaraj" userId="406013afdf31a054" providerId="LiveId" clId="{10EA665A-DBE3-42D5-AF00-609801538355}" dt="2026-04-21T17:54:15.033" v="1221" actId="1076"/>
          <ac:spMkLst>
            <pc:docMk/>
            <pc:sldMk cId="1398665787" sldId="275"/>
            <ac:spMk id="2" creationId="{5FDEA1C6-E8A6-4017-7C21-8FBD56A32F0B}"/>
          </ac:spMkLst>
        </pc:spChg>
        <pc:spChg chg="mod">
          <ac:chgData name="Bharani kanagaraj" userId="406013afdf31a054" providerId="LiveId" clId="{10EA665A-DBE3-42D5-AF00-609801538355}" dt="2026-04-21T17:54:12.146" v="1219" actId="1076"/>
          <ac:spMkLst>
            <pc:docMk/>
            <pc:sldMk cId="1398665787" sldId="275"/>
            <ac:spMk id="3" creationId="{EB243F67-E55E-E638-01D4-E099CD33467B}"/>
          </ac:spMkLst>
        </pc:spChg>
        <pc:spChg chg="mod">
          <ac:chgData name="Bharani kanagaraj" userId="406013afdf31a054" providerId="LiveId" clId="{10EA665A-DBE3-42D5-AF00-609801538355}" dt="2026-04-21T17:54:18.506" v="1222" actId="1076"/>
          <ac:spMkLst>
            <pc:docMk/>
            <pc:sldMk cId="1398665787" sldId="275"/>
            <ac:spMk id="4" creationId="{EF707952-8833-1804-B230-DA07B2D498C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22.04.2026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 September 2023</a:t>
            </a:r>
          </a:p>
          <a:p>
            <a:r>
              <a:rPr lang="en-US"/>
              <a:t>1-59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FFCE9-04D8-C375-D68B-1AAEA5519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5DD7E7-D43E-0217-369D-7CC420104F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0EFED1-DA60-952D-6796-FD9630D4468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622AF50-7C7F-A93C-584E-FE2B5666C4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4F66709-F9D3-5F59-110E-0397F9423C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354F7-D4D1-9631-E650-DAB8092C37C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459BF-B7D0-3D4A-43D8-77C9FD1EDB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3492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BE475-69B0-1033-54DB-0C6B0669E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FE6D250-85C1-E74B-9FDA-D274E53960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42D1E-FD80-3504-25F8-AC1D80EDF6B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F93B307-529C-ED82-FD3F-E05B9546BC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CE45C33-8EF0-EFCB-8B6B-BC443A7DBF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99801-FA5D-52A8-87F2-8AACA32EA3B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91E5D-25B2-DB9B-C3B5-3F510500A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29093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7EB24-ED3B-4D03-00EB-C1F3AC2A6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3B1D238-2227-B62F-3ADD-889E19F0D3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498196-4295-7DC7-B353-18287F8A0FC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92C61F7-7908-39FE-9AF0-9975D94074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F2ED291-EF05-6F08-BC48-62FA10EA71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041DF-A27E-7446-F4D3-C41F6E087DF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3BCA8-9AD0-D0F8-55EC-74D6C32AB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387886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FD877-E61B-77CD-95A0-22680CAF4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21DD9C3-94EC-9B4C-BF1C-005CF84BE2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9B4A96-8F6E-73A4-3A7C-4D839F70114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E5CAF7A-ADE9-436A-3677-5FEE862E6F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0122051-6DA3-79BB-E52E-A9470BF446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FA857-E888-2583-C45D-77046EFE47B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F05FBD-031A-0383-BAA9-A35374F7E7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683122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83443-827A-EC00-1B9C-03328D706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55ECED2-4A9F-C236-145A-25DBFC81B08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A99AB6-6C49-6923-0CD1-719C71F1F3E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5F494B3-45BF-F602-AEE9-9B2BC890EB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36C7BC0-1E82-F9E5-29F7-0A20DB91BE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A8FDB-06E8-8308-FE34-4AF64AFA4E3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61BFDA-BDAD-27D5-810B-A5218E796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29256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F534A-FB9A-BFCC-DF4B-2B740DD51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175276-535B-1708-754F-062C377EB7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37BDDD-79FE-4A91-3A5D-0E4442C1534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621309A-664C-B8B6-8718-89536536E4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D224BC6-E1B8-B527-C141-820468919B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06C0E-9811-F7CD-DB61-CE01EF37589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9C193-62B2-82AE-B647-106AC2370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376121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22314-A789-60AB-7889-6F76883D2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31284D-9C64-47FE-7156-32A1AE306A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5F547E-EC9A-98EE-F51E-32F819294B8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C69F4EC-0EB5-C987-EC3E-574EE5615F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84BACA2-A665-7DAA-90FE-94CEA57924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6C4BC0-7B54-DF60-92CF-9EB78B2EDC0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8C635-3C58-2BCB-ECEC-C76E9BE8E1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531945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5A723-D530-6125-D54A-9C33A5298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D85274-54B7-B925-19E8-171ADFBDD0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98C3FD-16C5-390B-3829-A0298953F2A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F1C8C47-369B-D050-D09C-D1A5049DFB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A5062A7-6722-3677-DCBF-BA92AD9BEC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45B6A-7831-908C-EA6B-F08C26FBB0E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C62FE-3F99-EE9D-F0E2-13DE3C3E6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152639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DC2D0-0797-B5D0-AAA3-DDFE3DD4F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444A013-7F78-9858-FA32-8CAE242A2C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B23476-3F96-17A9-F3A8-CE83247B7C6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B30C438-AD6D-AE68-A346-EA1A5E0BF5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D7C8604-3B92-B3C3-B259-EC70ECC28C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95D0B-6BD2-CC76-61BC-B6878FCC36C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6CD13-A315-2D8D-A8DB-4CF2231133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64810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4.jpe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426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743" r="1"/>
            </a:stretch>
          </a:blipFill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332793" y="5410200"/>
            <a:ext cx="1343607" cy="1619046"/>
          </a:xfrm>
          <a:custGeom>
            <a:avLst/>
            <a:gdLst/>
            <a:ahLst/>
            <a:cxnLst/>
            <a:rect l="l" t="t" r="r" b="b"/>
            <a:pathLst>
              <a:path w="1343607" h="1619046">
                <a:moveTo>
                  <a:pt x="0" y="0"/>
                </a:moveTo>
                <a:lnTo>
                  <a:pt x="1343608" y="0"/>
                </a:lnTo>
                <a:lnTo>
                  <a:pt x="1343608" y="1619046"/>
                </a:lnTo>
                <a:lnTo>
                  <a:pt x="0" y="16190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8075" y="152400"/>
            <a:ext cx="1282118" cy="991693"/>
          </a:xfrm>
          <a:custGeom>
            <a:avLst/>
            <a:gdLst/>
            <a:ahLst/>
            <a:cxnLst/>
            <a:rect l="l" t="t" r="r" b="b"/>
            <a:pathLst>
              <a:path w="1282118" h="991693">
                <a:moveTo>
                  <a:pt x="0" y="0"/>
                </a:moveTo>
                <a:lnTo>
                  <a:pt x="1282117" y="0"/>
                </a:lnTo>
                <a:lnTo>
                  <a:pt x="1282117" y="991694"/>
                </a:lnTo>
                <a:lnTo>
                  <a:pt x="0" y="9916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817864" y="556272"/>
            <a:ext cx="6787661" cy="1590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sz="2700" b="1" dirty="0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KONGU ENGINEERING COLLEGE</a:t>
            </a:r>
          </a:p>
          <a:p>
            <a:pPr algn="ctr">
              <a:lnSpc>
                <a:spcPts val="3071"/>
              </a:lnSpc>
            </a:pPr>
            <a:r>
              <a:rPr lang="en-US" sz="2700" b="1" dirty="0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DEPARTMENT OF AI&amp;DS</a:t>
            </a:r>
          </a:p>
          <a:p>
            <a:pPr algn="ctr">
              <a:lnSpc>
                <a:spcPts val="3071"/>
              </a:lnSpc>
            </a:pPr>
            <a:endParaRPr lang="en-US" sz="2700" b="1" dirty="0"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  <a:p>
            <a:pPr algn="ctr">
              <a:lnSpc>
                <a:spcPts val="3071"/>
              </a:lnSpc>
            </a:pPr>
            <a:r>
              <a:rPr lang="en-US" sz="2700" b="1" dirty="0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HCL PROJECT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86000" y="2702723"/>
            <a:ext cx="7618638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Book Antiqua" pitchFamily="34" charset="0"/>
                <a:ea typeface="Book Antiqua" pitchFamily="34" charset="-122"/>
                <a:cs typeface="Book Antiqua" pitchFamily="34" charset="-120"/>
              </a:rPr>
              <a:t>ICU PATIENT MORTALITY RISK </a:t>
            </a:r>
          </a:p>
          <a:p>
            <a:pPr algn="ctr"/>
            <a:r>
              <a:rPr lang="en-US" sz="2400" b="1" dirty="0">
                <a:solidFill>
                  <a:srgbClr val="000000"/>
                </a:solidFill>
                <a:latin typeface="Book Antiqua" pitchFamily="34" charset="0"/>
                <a:ea typeface="Book Antiqua" pitchFamily="34" charset="-122"/>
                <a:cs typeface="Book Antiqua" pitchFamily="34" charset="-120"/>
              </a:rPr>
              <a:t>PREDICTION SYSTEM</a:t>
            </a:r>
            <a:endParaRPr lang="en-US" sz="2400" dirty="0"/>
          </a:p>
        </p:txBody>
      </p:sp>
      <p:sp>
        <p:nvSpPr>
          <p:cNvPr id="7" name="TextBox 7"/>
          <p:cNvSpPr txBox="1"/>
          <p:nvPr/>
        </p:nvSpPr>
        <p:spPr>
          <a:xfrm>
            <a:off x="3318979" y="4592514"/>
            <a:ext cx="4759616" cy="20005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            Project Members</a:t>
            </a:r>
          </a:p>
          <a:p>
            <a:pPr algn="ctr">
              <a:lnSpc>
                <a:spcPts val="2639"/>
              </a:lnSpc>
              <a:spcBef>
                <a:spcPct val="0"/>
              </a:spcBef>
            </a:pPr>
            <a:endParaRPr lang="en-US" sz="2199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  <a:p>
            <a:pPr>
              <a:lnSpc>
                <a:spcPts val="2639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		BHAVANI A(24ADR021)</a:t>
            </a:r>
          </a:p>
          <a:p>
            <a:pPr>
              <a:lnSpc>
                <a:spcPts val="2639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		DARSHAAN R(24ADR027)</a:t>
            </a:r>
          </a:p>
          <a:p>
            <a:pPr>
              <a:lnSpc>
                <a:spcPts val="2639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		DIVAGAR D(24ADR041)</a:t>
            </a:r>
          </a:p>
          <a:p>
            <a:pPr algn="ctr">
              <a:lnSpc>
                <a:spcPts val="2639"/>
              </a:lnSpc>
              <a:spcBef>
                <a:spcPct val="0"/>
              </a:spcBef>
            </a:pPr>
            <a:endParaRPr lang="en-US" sz="2199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7926"/>
            <a:ext cx="9753600" cy="7323125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99162" y="532817"/>
            <a:ext cx="85735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PROBLEM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8283" y="1654231"/>
            <a:ext cx="8305800" cy="3580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97255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ICU patients are monitored using vital signs.</a:t>
            </a:r>
          </a:p>
          <a:p>
            <a:pPr marL="597255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Early detection improves survival.</a:t>
            </a:r>
          </a:p>
          <a:p>
            <a:pPr marL="597255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Traditional methods miss time-based patterns.</a:t>
            </a:r>
          </a:p>
          <a:p>
            <a:pPr marL="597255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Deep learning captures complex trends.</a:t>
            </a:r>
          </a:p>
          <a:p>
            <a:pPr marL="597255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System gives real-time risk score and alerts.</a:t>
            </a:r>
          </a:p>
        </p:txBody>
      </p:sp>
      <p:sp>
        <p:nvSpPr>
          <p:cNvPr id="5" name="Freeform 5" descr="kec2blackborder png.PNG"/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A3126-4EA7-FF01-354C-A2B9B8176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366C915-B154-F752-5CB8-3A4CE90CC901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EEBA246-2A31-DEA0-A48F-C738D68B4CA1}"/>
              </a:ext>
            </a:extLst>
          </p:cNvPr>
          <p:cNvSpPr txBox="1"/>
          <p:nvPr/>
        </p:nvSpPr>
        <p:spPr>
          <a:xfrm>
            <a:off x="914400" y="336575"/>
            <a:ext cx="85735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LITERATURE SURVEY</a:t>
            </a: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id="{5942F432-BD63-3C6B-4298-72E192DE44E6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1D107C-2027-BCA4-E1D8-8B6AA8B265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3" t="16335" r="1563" b="2390"/>
          <a:stretch>
            <a:fillRect/>
          </a:stretch>
        </p:blipFill>
        <p:spPr>
          <a:xfrm>
            <a:off x="743483" y="1090016"/>
            <a:ext cx="8915400" cy="606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827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14F5B1F-9500-C56A-711D-4BEBE0ED390B}"/>
              </a:ext>
            </a:extLst>
          </p:cNvPr>
          <p:cNvSpPr/>
          <p:nvPr/>
        </p:nvSpPr>
        <p:spPr>
          <a:xfrm>
            <a:off x="-7883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4749C-DF72-FB3D-760C-E24710719933}"/>
              </a:ext>
            </a:extLst>
          </p:cNvPr>
          <p:cNvSpPr txBox="1"/>
          <p:nvPr/>
        </p:nvSpPr>
        <p:spPr>
          <a:xfrm>
            <a:off x="3086910" y="838200"/>
            <a:ext cx="35797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952D451-11A2-057F-0993-5B26FCCC8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907" y="1676400"/>
            <a:ext cx="8970341" cy="3673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Static scores (APACHE/SOFA) ignore time-based changes.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Missing ICU data is not properly handled.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Limited comparison between LSTM, GRU and Transformer models.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Most models predict only at admission.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No real-time early warning alerts.</a:t>
            </a:r>
          </a:p>
        </p:txBody>
      </p:sp>
    </p:spTree>
    <p:extLst>
      <p:ext uri="{BB962C8B-B14F-4D97-AF65-F5344CB8AC3E}">
        <p14:creationId xmlns:p14="http://schemas.microsoft.com/office/powerpoint/2010/main" val="1804036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30ED1-C1DA-48F2-1343-135B4499E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255291B-037C-F29F-90E9-479C152FC94E}"/>
              </a:ext>
            </a:extLst>
          </p:cNvPr>
          <p:cNvSpPr/>
          <p:nvPr/>
        </p:nvSpPr>
        <p:spPr>
          <a:xfrm>
            <a:off x="0" y="-7883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C289300-D12C-ED09-C7BA-427495C96542}"/>
              </a:ext>
            </a:extLst>
          </p:cNvPr>
          <p:cNvSpPr txBox="1"/>
          <p:nvPr/>
        </p:nvSpPr>
        <p:spPr>
          <a:xfrm>
            <a:off x="990600" y="914400"/>
            <a:ext cx="8513505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OBJECTIVE</a:t>
            </a: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id="{F8D46400-4D1A-4D61-9969-696303DD3DB5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F73BF3-E9EC-D7B2-E659-1079BA39FEBC}"/>
              </a:ext>
            </a:extLst>
          </p:cNvPr>
          <p:cNvSpPr txBox="1"/>
          <p:nvPr/>
        </p:nvSpPr>
        <p:spPr>
          <a:xfrm>
            <a:off x="990599" y="1676400"/>
            <a:ext cx="8763001" cy="4417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ICU time-series dataset with missing values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data using imputation methods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data without leakage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sliding window sequences (24 timesteps, 5 features)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&amp; compare LSTM, GRU Transformer models using metrics (ROC-AUC, Precision)</a:t>
            </a:r>
          </a:p>
        </p:txBody>
      </p:sp>
    </p:spTree>
    <p:extLst>
      <p:ext uri="{BB962C8B-B14F-4D97-AF65-F5344CB8AC3E}">
        <p14:creationId xmlns:p14="http://schemas.microsoft.com/office/powerpoint/2010/main" val="4256486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A0E5D-40B1-C7B5-7522-C8E8831D9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D773C29-C3EC-BA59-0BC4-6A75A7E5F0AA}"/>
              </a:ext>
            </a:extLst>
          </p:cNvPr>
          <p:cNvSpPr/>
          <p:nvPr/>
        </p:nvSpPr>
        <p:spPr>
          <a:xfrm>
            <a:off x="-25468" y="5255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4F5D747-7838-0885-7342-C718C969E491}"/>
              </a:ext>
            </a:extLst>
          </p:cNvPr>
          <p:cNvSpPr txBox="1"/>
          <p:nvPr/>
        </p:nvSpPr>
        <p:spPr>
          <a:xfrm>
            <a:off x="914400" y="702337"/>
            <a:ext cx="85735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PROPOSED WORK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5DBB3D8-BADD-4903-77FF-5D7FAE567A49}"/>
              </a:ext>
            </a:extLst>
          </p:cNvPr>
          <p:cNvSpPr txBox="1"/>
          <p:nvPr/>
        </p:nvSpPr>
        <p:spPr>
          <a:xfrm>
            <a:off x="1048283" y="1676400"/>
            <a:ext cx="8305800" cy="3580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ICU patient data using time-series vital signs.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patient data as input for prediction.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data using LSTM, GRU and Transformer models.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mortality risk score and health insights.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results with real-time alerts and dashboard</a:t>
            </a: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id="{890BAD56-7B22-F1BB-477F-A0441FFB0385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</p:spTree>
    <p:extLst>
      <p:ext uri="{BB962C8B-B14F-4D97-AF65-F5344CB8AC3E}">
        <p14:creationId xmlns:p14="http://schemas.microsoft.com/office/powerpoint/2010/main" val="2709306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31BA1-F07B-2048-06F5-87B3CB94F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461F19D-1BA2-7045-33D5-E6C2220F3061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DE7FB28-238F-78B8-5E78-27F119F7FBA0}"/>
              </a:ext>
            </a:extLst>
          </p:cNvPr>
          <p:cNvSpPr txBox="1"/>
          <p:nvPr/>
        </p:nvSpPr>
        <p:spPr>
          <a:xfrm>
            <a:off x="908890" y="56612"/>
            <a:ext cx="85735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WORKFLOW DIAGRAM</a:t>
            </a: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id="{722896D3-0703-E9C8-83A6-C801E70724A4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598869-2590-E8C6-2C14-ACDE1288F2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18" t="15264"/>
          <a:stretch>
            <a:fillRect/>
          </a:stretch>
        </p:blipFill>
        <p:spPr>
          <a:xfrm>
            <a:off x="618830" y="1066800"/>
            <a:ext cx="9134770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811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6E385-8AA2-D15B-F011-8B91F8061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0F62F38-9850-7004-9626-68E4BB056B75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A87933F-CED9-334E-4DF3-41AFF74ED272}"/>
              </a:ext>
            </a:extLst>
          </p:cNvPr>
          <p:cNvSpPr txBox="1"/>
          <p:nvPr/>
        </p:nvSpPr>
        <p:spPr>
          <a:xfrm>
            <a:off x="914400" y="336575"/>
            <a:ext cx="8573566" cy="1215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HARDWARE/SOTWARE</a:t>
            </a:r>
          </a:p>
          <a:p>
            <a:pPr algn="ctr">
              <a:lnSpc>
                <a:spcPct val="150000"/>
              </a:lnSpc>
            </a:pP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REQUIREMENTS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6E260C5-FE90-7B10-68FC-5878768CFA9E}"/>
              </a:ext>
            </a:extLst>
          </p:cNvPr>
          <p:cNvSpPr txBox="1"/>
          <p:nvPr/>
        </p:nvSpPr>
        <p:spPr>
          <a:xfrm>
            <a:off x="762000" y="1752600"/>
            <a:ext cx="8839200" cy="3580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i5/Ryzen 5 (min), i7/Ryzen 7 (recommended)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8 GB (min), 16 GB+ (recommended)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GPU: Optional (min), NVIDIA GPU (recommended)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&amp;OS: 10GB+Windows/Ubuntu(min),SSD+ Ubuntu/macOS 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 Python,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Pandas, NumPy, Scikit-learn, Flask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id="{B54E31DE-F127-C0F9-F64F-43FCFC2FCC27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</p:spTree>
    <p:extLst>
      <p:ext uri="{BB962C8B-B14F-4D97-AF65-F5344CB8AC3E}">
        <p14:creationId xmlns:p14="http://schemas.microsoft.com/office/powerpoint/2010/main" val="888971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6E2AC-3526-FAB4-E251-F222F74DE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BC0C3DC-30E3-1B9B-D998-2ADD98CCB55D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18E5718-D4A6-7FB4-9450-87B0CDB7043C}"/>
              </a:ext>
            </a:extLst>
          </p:cNvPr>
          <p:cNvSpPr txBox="1"/>
          <p:nvPr/>
        </p:nvSpPr>
        <p:spPr>
          <a:xfrm>
            <a:off x="914400" y="731520"/>
            <a:ext cx="85735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MODULES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B860554-4231-BD00-A6E2-80411E082957}"/>
              </a:ext>
            </a:extLst>
          </p:cNvPr>
          <p:cNvSpPr txBox="1"/>
          <p:nvPr/>
        </p:nvSpPr>
        <p:spPr>
          <a:xfrm>
            <a:off x="1048283" y="1676400"/>
            <a:ext cx="8305800" cy="43194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ICU dataset with missing values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data (imputation, scaling, windowing)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LSTM, GRU, Transformer models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using ROC-AUC, Precision, Recall, F1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API for real-time prediction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dashboard for visualization &amp; alerts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id="{C0F1888C-242B-F0E5-76AE-F851E6BB1223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</p:spTree>
    <p:extLst>
      <p:ext uri="{BB962C8B-B14F-4D97-AF65-F5344CB8AC3E}">
        <p14:creationId xmlns:p14="http://schemas.microsoft.com/office/powerpoint/2010/main" val="2423828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99C68-82DA-0047-A25B-0751C4323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3152EEA-FA33-5E73-935F-846D46C42427}"/>
              </a:ext>
            </a:extLst>
          </p:cNvPr>
          <p:cNvSpPr/>
          <p:nvPr/>
        </p:nvSpPr>
        <p:spPr>
          <a:xfrm>
            <a:off x="-26894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EEE1ECF-7A54-420D-505D-72ED21A8870B}"/>
              </a:ext>
            </a:extLst>
          </p:cNvPr>
          <p:cNvSpPr txBox="1"/>
          <p:nvPr/>
        </p:nvSpPr>
        <p:spPr>
          <a:xfrm>
            <a:off x="914400" y="228454"/>
            <a:ext cx="85735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SCREENSHOTS</a:t>
            </a: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id="{6B95C738-5584-0F37-285A-DB26E6DEF4A2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088412-0F10-5DDC-486F-8F4460DFD03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91" y="1135937"/>
            <a:ext cx="4361604" cy="28486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CAC8714-8C69-D9A3-E4F4-93D63FEF829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2" y="1135937"/>
            <a:ext cx="4495797" cy="284862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5D7603C-33D5-E598-7EB3-D34B08F5678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91" y="4238127"/>
            <a:ext cx="4361604" cy="302046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5CAE61E-734B-0CE6-331A-2C7C002DD4C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2" y="4238126"/>
            <a:ext cx="4495797" cy="302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988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71F34-D3D5-7FC0-96DD-E8FC56D3F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FDEA1C6-E8A6-4017-7C21-8FBD56A32F0B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B243F67-E55E-E638-01D4-E099CD33467B}"/>
              </a:ext>
            </a:extLst>
          </p:cNvPr>
          <p:cNvSpPr txBox="1"/>
          <p:nvPr/>
        </p:nvSpPr>
        <p:spPr>
          <a:xfrm>
            <a:off x="933209" y="150848"/>
            <a:ext cx="85735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REFERENCE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F707952-8833-1804-B230-DA07B2D498C1}"/>
              </a:ext>
            </a:extLst>
          </p:cNvPr>
          <p:cNvSpPr txBox="1"/>
          <p:nvPr/>
        </p:nvSpPr>
        <p:spPr>
          <a:xfrm>
            <a:off x="933208" y="1070376"/>
            <a:ext cx="8439391" cy="6647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08710" lvl="1" indent="-254355" algn="just"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Yu, K. et al., “Monitoring ICU Mortality Risk with LSTM Models”, 2020.</a:t>
            </a:r>
          </a:p>
          <a:p>
            <a:pPr marL="508710" lvl="1" indent="-254355" algn="just"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LSTM on EHR data for real-time mortality prediction.</a:t>
            </a:r>
          </a:p>
          <a:p>
            <a:pPr marL="508710" lvl="1" indent="-254355" algn="just"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Deng, Y. et al., “Explainable Time-Series Deep Learning Models for ICU Mortality Prediction”, 2022.</a:t>
            </a:r>
          </a:p>
          <a:p>
            <a:pPr marL="508710" lvl="1" indent="-254355" algn="just"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LSTM, GRU on ICU time-series data.</a:t>
            </a:r>
          </a:p>
          <a:p>
            <a:pPr marL="508710" lvl="1" indent="-254355" algn="just"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Pang, K. et al., “ICU Mortality Prediction using Machine Learning Models”, 2022.</a:t>
            </a:r>
          </a:p>
          <a:p>
            <a:pPr marL="508710" lvl="1" indent="-254355" algn="just"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ML models with APACHE scoring systems.</a:t>
            </a:r>
          </a:p>
          <a:p>
            <a:pPr marL="508710" lvl="1" indent="-254355" algn="just"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Baker, S. et al., “Continuous Mortality Risk Prediction using LSTM”, 2020.</a:t>
            </a:r>
          </a:p>
          <a:p>
            <a:pPr marL="508710" lvl="1" indent="-254355" algn="just"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effectiveness of LSTM for ICU prediction tasks.</a:t>
            </a:r>
          </a:p>
          <a:p>
            <a:pPr marL="508710" lvl="1" indent="-254355" algn="just"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Zhao, Y. et al., “ML-Based ICU Mortality Prediction Pipeline”, 2026.</a:t>
            </a:r>
          </a:p>
          <a:p>
            <a:pPr marL="508710" lvl="1" indent="-254355" algn="just"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dataset with high accuracy ML models.</a:t>
            </a:r>
          </a:p>
          <a:p>
            <a:pPr marL="508710" lvl="1" indent="-254355" algn="just"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Ashrafi, N. et al., “Deep Learning Model for ICU Mortality Prediction”, 2024.</a:t>
            </a:r>
          </a:p>
          <a:p>
            <a:pPr marL="508710" lvl="1" indent="-254355" algn="just"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outperform traditional ML models.</a:t>
            </a: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id="{C3D8C1BE-7659-1610-46FF-0D3A75AB2359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</p:spTree>
    <p:extLst>
      <p:ext uri="{BB962C8B-B14F-4D97-AF65-F5344CB8AC3E}">
        <p14:creationId xmlns:p14="http://schemas.microsoft.com/office/powerpoint/2010/main" val="1398665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7B812-DFA4-D23D-2BBA-0E5917D5F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E5F32B1-53A6-360B-8CF7-D0235E4C9E55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id="{D131C2FD-5CB8-D273-E783-FDCFEA6A3DC7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2A86C2DD-A82A-7D41-5665-91494303C48F}"/>
              </a:ext>
            </a:extLst>
          </p:cNvPr>
          <p:cNvSpPr txBox="1"/>
          <p:nvPr/>
        </p:nvSpPr>
        <p:spPr>
          <a:xfrm>
            <a:off x="1051005" y="2792360"/>
            <a:ext cx="8123475" cy="988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47"/>
              </a:lnSpc>
            </a:pPr>
            <a:r>
              <a:rPr lang="en-US" sz="6000" dirty="0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49189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9233</TotalTime>
  <Words>533</Words>
  <Application>Microsoft Office PowerPoint</Application>
  <PresentationFormat>Custom</PresentationFormat>
  <Paragraphs>101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Times New Roman</vt:lpstr>
      <vt:lpstr>Book Antiqua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Work - II Base Paper PPT</dc:title>
  <dc:creator>ROHIT P V</dc:creator>
  <cp:lastModifiedBy>diva gar</cp:lastModifiedBy>
  <cp:revision>35</cp:revision>
  <dcterms:created xsi:type="dcterms:W3CDTF">2006-08-16T00:00:00Z</dcterms:created>
  <dcterms:modified xsi:type="dcterms:W3CDTF">2026-04-21T19:26:03Z</dcterms:modified>
  <dc:identifier>DAGtDquCC84</dc:identifier>
</cp:coreProperties>
</file>